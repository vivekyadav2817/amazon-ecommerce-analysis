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62" r:id="rId1"/>
  </p:sldMasterIdLst>
  <p:sldIdLst>
    <p:sldId id="256" r:id="rId2"/>
    <p:sldId id="285" r:id="rId3"/>
    <p:sldId id="268" r:id="rId4"/>
    <p:sldId id="261" r:id="rId5"/>
    <p:sldId id="258" r:id="rId6"/>
    <p:sldId id="257" r:id="rId7"/>
    <p:sldId id="259" r:id="rId8"/>
    <p:sldId id="276" r:id="rId9"/>
    <p:sldId id="278" r:id="rId10"/>
    <p:sldId id="277" r:id="rId11"/>
    <p:sldId id="279" r:id="rId12"/>
    <p:sldId id="280" r:id="rId13"/>
    <p:sldId id="281" r:id="rId14"/>
    <p:sldId id="282" r:id="rId15"/>
    <p:sldId id="263" r:id="rId16"/>
    <p:sldId id="284" r:id="rId17"/>
    <p:sldId id="283" r:id="rId18"/>
    <p:sldId id="265" r:id="rId19"/>
  </p:sldIdLst>
  <p:sldSz cx="12192000" cy="6858000"/>
  <p:notesSz cx="6858000" cy="9144000"/>
  <p:embeddedFontLst>
    <p:embeddedFont>
      <p:font typeface="Fira Sans Medium" panose="020B0603050000020004" pitchFamily="34" charset="0"/>
      <p:regular r:id="rId20"/>
      <p:italic r:id="rId21"/>
    </p:embeddedFont>
    <p:embeddedFont>
      <p:font typeface="Palatino Linotype" panose="02040502050505030304" pitchFamily="18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5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300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7" pos="5768" userDrawn="1">
          <p15:clr>
            <a:srgbClr val="A4A3A4"/>
          </p15:clr>
        </p15:guide>
        <p15:guide id="8" orient="horz" pos="2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674B"/>
    <a:srgbClr val="00AAE1"/>
    <a:srgbClr val="131921"/>
    <a:srgbClr val="D9D9D9"/>
    <a:srgbClr val="232F3E"/>
    <a:srgbClr val="FFA542"/>
    <a:srgbClr val="181717"/>
    <a:srgbClr val="E15436"/>
    <a:srgbClr val="05A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77E02-0E1B-4380-80D1-BA20D8F17E93}" v="5" dt="2026-01-31T17:30:37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6283" autoAdjust="0"/>
  </p:normalViewPr>
  <p:slideViewPr>
    <p:cSldViewPr snapToGrid="0" showGuides="1">
      <p:cViewPr varScale="1">
        <p:scale>
          <a:sx n="82" d="100"/>
          <a:sy n="82" d="100"/>
        </p:scale>
        <p:origin x="850" y="72"/>
      </p:cViewPr>
      <p:guideLst>
        <p:guide orient="horz" pos="2137"/>
        <p:guide pos="3840"/>
        <p:guide pos="415"/>
        <p:guide pos="7242"/>
        <p:guide orient="horz" pos="300"/>
        <p:guide orient="horz" pos="4020"/>
        <p:guide pos="5768"/>
        <p:guide orient="horz" pos="24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Kumar Yadav" userId="3aa1cb87d3757c04" providerId="LiveId" clId="{2FCE8679-C82F-4782-B233-5FE0B806FD9A}"/>
    <pc:docChg chg="undo custSel addSld modSld sldOrd modMainMaster">
      <pc:chgData name="Vivek Kumar Yadav" userId="3aa1cb87d3757c04" providerId="LiveId" clId="{2FCE8679-C82F-4782-B233-5FE0B806FD9A}" dt="2026-01-31T17:30:47.480" v="546" actId="207"/>
      <pc:docMkLst>
        <pc:docMk/>
      </pc:docMkLst>
      <pc:sldChg chg="delSp modSp mod">
        <pc:chgData name="Vivek Kumar Yadav" userId="3aa1cb87d3757c04" providerId="LiveId" clId="{2FCE8679-C82F-4782-B233-5FE0B806FD9A}" dt="2026-01-31T17:30:24.927" v="540" actId="207"/>
        <pc:sldMkLst>
          <pc:docMk/>
          <pc:sldMk cId="2359810381" sldId="258"/>
        </pc:sldMkLst>
        <pc:spChg chg="del">
          <ac:chgData name="Vivek Kumar Yadav" userId="3aa1cb87d3757c04" providerId="LiveId" clId="{2FCE8679-C82F-4782-B233-5FE0B806FD9A}" dt="2026-01-31T17:30:21.828" v="539" actId="478"/>
          <ac:spMkLst>
            <pc:docMk/>
            <pc:sldMk cId="2359810381" sldId="258"/>
            <ac:spMk id="10" creationId="{B1684223-223B-3A19-9B5D-058E1EA4ADE7}"/>
          </ac:spMkLst>
        </pc:spChg>
        <pc:spChg chg="mod">
          <ac:chgData name="Vivek Kumar Yadav" userId="3aa1cb87d3757c04" providerId="LiveId" clId="{2FCE8679-C82F-4782-B233-5FE0B806FD9A}" dt="2026-01-31T17:30:24.927" v="540" actId="207"/>
          <ac:spMkLst>
            <pc:docMk/>
            <pc:sldMk cId="2359810381" sldId="258"/>
            <ac:spMk id="12" creationId="{AC30CE42-79BC-039B-3520-318053BE31C6}"/>
          </ac:spMkLst>
        </pc:spChg>
      </pc:sldChg>
      <pc:sldChg chg="delSp modSp mod">
        <pc:chgData name="Vivek Kumar Yadav" userId="3aa1cb87d3757c04" providerId="LiveId" clId="{2FCE8679-C82F-4782-B233-5FE0B806FD9A}" dt="2026-01-31T17:30:17.871" v="538" actId="207"/>
        <pc:sldMkLst>
          <pc:docMk/>
          <pc:sldMk cId="461845244" sldId="261"/>
        </pc:sldMkLst>
        <pc:spChg chg="mod">
          <ac:chgData name="Vivek Kumar Yadav" userId="3aa1cb87d3757c04" providerId="LiveId" clId="{2FCE8679-C82F-4782-B233-5FE0B806FD9A}" dt="2026-01-31T17:30:17.871" v="538" actId="207"/>
          <ac:spMkLst>
            <pc:docMk/>
            <pc:sldMk cId="461845244" sldId="261"/>
            <ac:spMk id="2" creationId="{FFA73F2E-1D78-DC92-A4A0-568D47454B75}"/>
          </ac:spMkLst>
        </pc:spChg>
        <pc:spChg chg="del">
          <ac:chgData name="Vivek Kumar Yadav" userId="3aa1cb87d3757c04" providerId="LiveId" clId="{2FCE8679-C82F-4782-B233-5FE0B806FD9A}" dt="2026-01-31T17:30:13.825" v="537" actId="478"/>
          <ac:spMkLst>
            <pc:docMk/>
            <pc:sldMk cId="461845244" sldId="261"/>
            <ac:spMk id="16" creationId="{59358E82-2085-4FDC-BB98-0AC776133192}"/>
          </ac:spMkLst>
        </pc:spChg>
      </pc:sldChg>
      <pc:sldChg chg="delSp modSp mod">
        <pc:chgData name="Vivek Kumar Yadav" userId="3aa1cb87d3757c04" providerId="LiveId" clId="{2FCE8679-C82F-4782-B233-5FE0B806FD9A}" dt="2026-01-31T17:30:09.454" v="536" actId="207"/>
        <pc:sldMkLst>
          <pc:docMk/>
          <pc:sldMk cId="1364433812" sldId="268"/>
        </pc:sldMkLst>
        <pc:spChg chg="del">
          <ac:chgData name="Vivek Kumar Yadav" userId="3aa1cb87d3757c04" providerId="LiveId" clId="{2FCE8679-C82F-4782-B233-5FE0B806FD9A}" dt="2026-01-31T17:30:00.881" v="535" actId="478"/>
          <ac:spMkLst>
            <pc:docMk/>
            <pc:sldMk cId="1364433812" sldId="268"/>
            <ac:spMk id="11" creationId="{51D768DA-1DA7-4CBE-8E6C-2229D90C9DE0}"/>
          </ac:spMkLst>
        </pc:spChg>
        <pc:spChg chg="mod">
          <ac:chgData name="Vivek Kumar Yadav" userId="3aa1cb87d3757c04" providerId="LiveId" clId="{2FCE8679-C82F-4782-B233-5FE0B806FD9A}" dt="2026-01-31T17:30:09.454" v="536" actId="207"/>
          <ac:spMkLst>
            <pc:docMk/>
            <pc:sldMk cId="1364433812" sldId="268"/>
            <ac:spMk id="30" creationId="{8BDC5375-5814-427B-930D-D88EDD79BF3F}"/>
          </ac:spMkLst>
        </pc:spChg>
      </pc:sldChg>
      <pc:sldChg chg="delSp modSp mod">
        <pc:chgData name="Vivek Kumar Yadav" userId="3aa1cb87d3757c04" providerId="LiveId" clId="{2FCE8679-C82F-4782-B233-5FE0B806FD9A}" dt="2026-01-31T17:30:47.480" v="546" actId="207"/>
        <pc:sldMkLst>
          <pc:docMk/>
          <pc:sldMk cId="2832603719" sldId="281"/>
        </pc:sldMkLst>
        <pc:spChg chg="mod">
          <ac:chgData name="Vivek Kumar Yadav" userId="3aa1cb87d3757c04" providerId="LiveId" clId="{2FCE8679-C82F-4782-B233-5FE0B806FD9A}" dt="2026-01-31T17:30:47.480" v="546" actId="207"/>
          <ac:spMkLst>
            <pc:docMk/>
            <pc:sldMk cId="2832603719" sldId="281"/>
            <ac:spMk id="2" creationId="{E9F8D7F2-B7D3-5737-5731-9C37D950C6D4}"/>
          </ac:spMkLst>
        </pc:spChg>
        <pc:spChg chg="del">
          <ac:chgData name="Vivek Kumar Yadav" userId="3aa1cb87d3757c04" providerId="LiveId" clId="{2FCE8679-C82F-4782-B233-5FE0B806FD9A}" dt="2026-01-31T17:30:44.564" v="545" actId="478"/>
          <ac:spMkLst>
            <pc:docMk/>
            <pc:sldMk cId="2832603719" sldId="281"/>
            <ac:spMk id="16" creationId="{C67BF772-4F77-C701-75DD-E7A2126B559B}"/>
          </ac:spMkLst>
        </pc:spChg>
      </pc:sldChg>
      <pc:sldChg chg="delSp modSp mod">
        <pc:chgData name="Vivek Kumar Yadav" userId="3aa1cb87d3757c04" providerId="LiveId" clId="{2FCE8679-C82F-4782-B233-5FE0B806FD9A}" dt="2026-01-31T17:30:37.220" v="544"/>
        <pc:sldMkLst>
          <pc:docMk/>
          <pc:sldMk cId="1781285593" sldId="282"/>
        </pc:sldMkLst>
        <pc:spChg chg="del">
          <ac:chgData name="Vivek Kumar Yadav" userId="3aa1cb87d3757c04" providerId="LiveId" clId="{2FCE8679-C82F-4782-B233-5FE0B806FD9A}" dt="2026-01-31T17:30:33.170" v="541" actId="478"/>
          <ac:spMkLst>
            <pc:docMk/>
            <pc:sldMk cId="1781285593" sldId="282"/>
            <ac:spMk id="10" creationId="{7FDDDB6F-2CB6-04B3-D06F-FC5BDF2F1241}"/>
          </ac:spMkLst>
        </pc:spChg>
        <pc:spChg chg="mod">
          <ac:chgData name="Vivek Kumar Yadav" userId="3aa1cb87d3757c04" providerId="LiveId" clId="{2FCE8679-C82F-4782-B233-5FE0B806FD9A}" dt="2026-01-31T17:30:37.220" v="544"/>
          <ac:spMkLst>
            <pc:docMk/>
            <pc:sldMk cId="1781285593" sldId="282"/>
            <ac:spMk id="12" creationId="{2EC1A925-2DBF-8C44-D7DB-62DF12958D63}"/>
          </ac:spMkLst>
        </pc:spChg>
      </pc:sldChg>
      <pc:sldChg chg="addSp delSp modSp add mod ord">
        <pc:chgData name="Vivek Kumar Yadav" userId="3aa1cb87d3757c04" providerId="LiveId" clId="{2FCE8679-C82F-4782-B233-5FE0B806FD9A}" dt="2026-01-31T17:29:23.558" v="534" actId="13822"/>
        <pc:sldMkLst>
          <pc:docMk/>
          <pc:sldMk cId="891795816" sldId="285"/>
        </pc:sldMkLst>
        <pc:spChg chg="mod">
          <ac:chgData name="Vivek Kumar Yadav" userId="3aa1cb87d3757c04" providerId="LiveId" clId="{2FCE8679-C82F-4782-B233-5FE0B806FD9A}" dt="2026-01-31T17:24:32.274" v="514" actId="20577"/>
          <ac:spMkLst>
            <pc:docMk/>
            <pc:sldMk cId="891795816" sldId="285"/>
            <ac:spMk id="16" creationId="{9511999B-1C13-B25D-3F8C-570B4A660C14}"/>
          </ac:spMkLst>
        </pc:spChg>
        <pc:spChg chg="del">
          <ac:chgData name="Vivek Kumar Yadav" userId="3aa1cb87d3757c04" providerId="LiveId" clId="{2FCE8679-C82F-4782-B233-5FE0B806FD9A}" dt="2026-01-31T17:22:59.331" v="441" actId="478"/>
          <ac:spMkLst>
            <pc:docMk/>
            <pc:sldMk cId="891795816" sldId="285"/>
            <ac:spMk id="18" creationId="{C09C192C-B40F-B16F-E5CA-491740B26CAD}"/>
          </ac:spMkLst>
        </pc:spChg>
        <pc:grpChg chg="del mod">
          <ac:chgData name="Vivek Kumar Yadav" userId="3aa1cb87d3757c04" providerId="LiveId" clId="{2FCE8679-C82F-4782-B233-5FE0B806FD9A}" dt="2026-01-31T17:24:02.271" v="507" actId="478"/>
          <ac:grpSpMkLst>
            <pc:docMk/>
            <pc:sldMk cId="891795816" sldId="285"/>
            <ac:grpSpMk id="13" creationId="{DCF5C86A-3035-A3C5-C55F-E8A0C7CC5F34}"/>
          </ac:grpSpMkLst>
        </pc:grpChg>
        <pc:picChg chg="add del mod">
          <ac:chgData name="Vivek Kumar Yadav" userId="3aa1cb87d3757c04" providerId="LiveId" clId="{2FCE8679-C82F-4782-B233-5FE0B806FD9A}" dt="2026-01-31T17:27:58.790" v="515" actId="478"/>
          <ac:picMkLst>
            <pc:docMk/>
            <pc:sldMk cId="891795816" sldId="285"/>
            <ac:picMk id="3" creationId="{B81A2A42-B0C9-C3C1-21FF-E7DE3984E9B9}"/>
          </ac:picMkLst>
        </pc:picChg>
        <pc:picChg chg="add del mod">
          <ac:chgData name="Vivek Kumar Yadav" userId="3aa1cb87d3757c04" providerId="LiveId" clId="{2FCE8679-C82F-4782-B233-5FE0B806FD9A}" dt="2026-01-31T17:28:23.207" v="518" actId="478"/>
          <ac:picMkLst>
            <pc:docMk/>
            <pc:sldMk cId="891795816" sldId="285"/>
            <ac:picMk id="5" creationId="{AE3D3048-412E-9655-FF51-B5367F514427}"/>
          </ac:picMkLst>
        </pc:picChg>
        <pc:picChg chg="add mod">
          <ac:chgData name="Vivek Kumar Yadav" userId="3aa1cb87d3757c04" providerId="LiveId" clId="{2FCE8679-C82F-4782-B233-5FE0B806FD9A}" dt="2026-01-31T17:29:23.558" v="534" actId="13822"/>
          <ac:picMkLst>
            <pc:docMk/>
            <pc:sldMk cId="891795816" sldId="285"/>
            <ac:picMk id="7" creationId="{0E337D0A-F05C-CD43-670F-B474F754B3F8}"/>
          </ac:picMkLst>
        </pc:picChg>
        <pc:picChg chg="del">
          <ac:chgData name="Vivek Kumar Yadav" userId="3aa1cb87d3757c04" providerId="LiveId" clId="{2FCE8679-C82F-4782-B233-5FE0B806FD9A}" dt="2026-01-31T17:23:03.313" v="442" actId="478"/>
          <ac:picMkLst>
            <pc:docMk/>
            <pc:sldMk cId="891795816" sldId="285"/>
            <ac:picMk id="17" creationId="{7CBE899B-FE27-402F-5844-DDF7B472179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5D32-7620-F46D-D889-01C6BDEA1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0597C-F98E-73A7-94A5-8FB00CA42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1E2D2-4513-20B6-7AD0-F25C2452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5ABB9-C89C-B72B-73FE-A68BEF75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B3865-721C-EC62-070D-6D7B2E5C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40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FB29-03CC-CA39-DAF9-C3253BAC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0F050-9523-C451-BF89-BED27A172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D0852-7AD7-5B31-EB41-205D15FE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F3D19-7A4E-2BE2-EE97-84DFE5A5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09204-6F8F-66BF-8444-B10AC166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78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7F3D-40D4-A60E-CCAB-4FC151D8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EE19D-33B4-C7D4-385F-058135B5B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68A5E-D982-0E6F-726B-FDA302C2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AB81D-B545-E228-FA7E-3EBD42AE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CD131-91CB-74B4-6EEA-8F9A9857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402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759C-9A32-47E1-6E30-D29E6CA4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ECD34-B698-2B22-DA0E-CB90A9C25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55E86-1B0C-732E-B486-6DCB6EAE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2706D-7B8B-7887-F171-47744F7B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D2A21-BECC-8131-32B0-0A68076A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61771-2878-8116-0EC9-4D27E64F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11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C257-75A6-01D5-99CD-C62D611A1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F8EC2-AB6B-6907-E9CF-4CAD74A2F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D6865-6A41-20C5-75AF-56BB88364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1BF12-BC0F-34C3-1203-5FAFC35CD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6A19A1-BD0B-01C7-B078-18DAEE8B4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342A9B-895D-6CD9-FFF2-080FD526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D10CA-9983-FF49-4CA3-89170F33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AD316A-96E7-1F79-3D4B-A9116330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57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0AE0-06F0-B0D3-A3DF-D0FEC71D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23C4F-0969-48EA-16D1-86D334DD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B5F12-ABAE-EAD7-01B8-39D3FB10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62261-36C0-3AA0-21A8-138C75E0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6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F2053-FF22-0D84-6D0A-0C7EFC97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A8D59-305E-FD7E-B454-6A4631A0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E173E-155B-3E64-8549-418BF0C5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60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6130-4EE4-ABBC-D07F-7695A2E2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1AF73-5EA5-42D8-B915-50DB5192D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1DF6B-CCB5-247F-DECD-0FC9E1E41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B87D1-7EB1-9257-7D83-57F3912C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B8471-A954-60EE-65FC-A8F8B0A4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CF1E2-8075-E3F3-AF42-465A4300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6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9DEF-4AEA-00A3-32BE-93434057F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0D8F0-6450-B9C9-3BC5-E7ED88A74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10888-871B-E124-3F22-F347139DD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4523-D314-FB0D-B008-F606B213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A6BFE-A391-7130-3F8D-6CA24F12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5BFDA-4908-F49D-A619-6D204A48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412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BBBE-2553-320D-F253-57B4C010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6D138-63C5-1E72-3E6C-C767BF0E2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BE46E-6E7B-D1FB-0020-C9DF8689D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2F53F-A88C-C832-988C-3682E28A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D2453-3037-0EDB-EC35-1B1A93B7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38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EAE97-E129-E5A2-7090-E5B0AAF3F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AFD8B-91BB-6536-33A7-E1CA5BE0D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8D11C-89EA-05A4-7929-DCC81A51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4A120-A3A3-2B8E-6E2D-23C89D43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A18B3-5F2E-78E6-ECB3-B0CEFB24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15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2960CAF-861B-4DA5-991A-1546B2B4F1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3299" y="1095375"/>
            <a:ext cx="3590925" cy="4667250"/>
          </a:xfrm>
          <a:custGeom>
            <a:avLst/>
            <a:gdLst>
              <a:gd name="connsiteX0" fmla="*/ 312734 w 3590925"/>
              <a:gd name="connsiteY0" fmla="*/ 0 h 4667250"/>
              <a:gd name="connsiteX1" fmla="*/ 3278191 w 3590925"/>
              <a:gd name="connsiteY1" fmla="*/ 0 h 4667250"/>
              <a:gd name="connsiteX2" fmla="*/ 3590925 w 3590925"/>
              <a:gd name="connsiteY2" fmla="*/ 312734 h 4667250"/>
              <a:gd name="connsiteX3" fmla="*/ 3590925 w 3590925"/>
              <a:gd name="connsiteY3" fmla="*/ 4354516 h 4667250"/>
              <a:gd name="connsiteX4" fmla="*/ 3278191 w 3590925"/>
              <a:gd name="connsiteY4" fmla="*/ 4667250 h 4667250"/>
              <a:gd name="connsiteX5" fmla="*/ 312734 w 3590925"/>
              <a:gd name="connsiteY5" fmla="*/ 4667250 h 4667250"/>
              <a:gd name="connsiteX6" fmla="*/ 0 w 3590925"/>
              <a:gd name="connsiteY6" fmla="*/ 4354516 h 4667250"/>
              <a:gd name="connsiteX7" fmla="*/ 0 w 3590925"/>
              <a:gd name="connsiteY7" fmla="*/ 312734 h 4667250"/>
              <a:gd name="connsiteX8" fmla="*/ 312734 w 3590925"/>
              <a:gd name="connsiteY8" fmla="*/ 0 h 466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0925" h="4667250">
                <a:moveTo>
                  <a:pt x="312734" y="0"/>
                </a:moveTo>
                <a:lnTo>
                  <a:pt x="3278191" y="0"/>
                </a:lnTo>
                <a:cubicBezTo>
                  <a:pt x="3450909" y="0"/>
                  <a:pt x="3590925" y="140016"/>
                  <a:pt x="3590925" y="312734"/>
                </a:cubicBezTo>
                <a:lnTo>
                  <a:pt x="3590925" y="4354516"/>
                </a:lnTo>
                <a:cubicBezTo>
                  <a:pt x="3590925" y="4527234"/>
                  <a:pt x="3450909" y="4667250"/>
                  <a:pt x="3278191" y="4667250"/>
                </a:cubicBezTo>
                <a:lnTo>
                  <a:pt x="312734" y="4667250"/>
                </a:lnTo>
                <a:cubicBezTo>
                  <a:pt x="140016" y="4667250"/>
                  <a:pt x="0" y="4527234"/>
                  <a:pt x="0" y="4354516"/>
                </a:cubicBezTo>
                <a:lnTo>
                  <a:pt x="0" y="312734"/>
                </a:lnTo>
                <a:cubicBezTo>
                  <a:pt x="0" y="140016"/>
                  <a:pt x="140016" y="0"/>
                  <a:pt x="3127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870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7F81A14-FB9F-46B7-B6FB-EA02364F7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9025" y="1937268"/>
            <a:ext cx="5206611" cy="3349690"/>
          </a:xfrm>
          <a:custGeom>
            <a:avLst/>
            <a:gdLst>
              <a:gd name="connsiteX0" fmla="*/ 139180 w 5206611"/>
              <a:gd name="connsiteY0" fmla="*/ 0 h 3349690"/>
              <a:gd name="connsiteX1" fmla="*/ 5067431 w 5206611"/>
              <a:gd name="connsiteY1" fmla="*/ 0 h 3349690"/>
              <a:gd name="connsiteX2" fmla="*/ 5206611 w 5206611"/>
              <a:gd name="connsiteY2" fmla="*/ 139180 h 3349690"/>
              <a:gd name="connsiteX3" fmla="*/ 5206611 w 5206611"/>
              <a:gd name="connsiteY3" fmla="*/ 3210510 h 3349690"/>
              <a:gd name="connsiteX4" fmla="*/ 5067431 w 5206611"/>
              <a:gd name="connsiteY4" fmla="*/ 3349690 h 3349690"/>
              <a:gd name="connsiteX5" fmla="*/ 139180 w 5206611"/>
              <a:gd name="connsiteY5" fmla="*/ 3349690 h 3349690"/>
              <a:gd name="connsiteX6" fmla="*/ 0 w 5206611"/>
              <a:gd name="connsiteY6" fmla="*/ 3210510 h 3349690"/>
              <a:gd name="connsiteX7" fmla="*/ 0 w 5206611"/>
              <a:gd name="connsiteY7" fmla="*/ 139180 h 3349690"/>
              <a:gd name="connsiteX8" fmla="*/ 139180 w 5206611"/>
              <a:gd name="connsiteY8" fmla="*/ 0 h 3349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6611" h="3349690">
                <a:moveTo>
                  <a:pt x="139180" y="0"/>
                </a:moveTo>
                <a:lnTo>
                  <a:pt x="5067431" y="0"/>
                </a:lnTo>
                <a:cubicBezTo>
                  <a:pt x="5144298" y="0"/>
                  <a:pt x="5206611" y="62313"/>
                  <a:pt x="5206611" y="139180"/>
                </a:cubicBezTo>
                <a:lnTo>
                  <a:pt x="5206611" y="3210510"/>
                </a:lnTo>
                <a:cubicBezTo>
                  <a:pt x="5206611" y="3287377"/>
                  <a:pt x="5144298" y="3349690"/>
                  <a:pt x="5067431" y="3349690"/>
                </a:cubicBezTo>
                <a:lnTo>
                  <a:pt x="139180" y="3349690"/>
                </a:lnTo>
                <a:cubicBezTo>
                  <a:pt x="62313" y="3349690"/>
                  <a:pt x="0" y="3287377"/>
                  <a:pt x="0" y="3210510"/>
                </a:cubicBezTo>
                <a:lnTo>
                  <a:pt x="0" y="139180"/>
                </a:lnTo>
                <a:cubicBezTo>
                  <a:pt x="0" y="62313"/>
                  <a:pt x="62313" y="0"/>
                  <a:pt x="13918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FE1E317-8122-4D45-8E3E-80072EC743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160" y="2620011"/>
            <a:ext cx="1427728" cy="2933647"/>
          </a:xfrm>
          <a:custGeom>
            <a:avLst/>
            <a:gdLst>
              <a:gd name="connsiteX0" fmla="*/ 187889 w 1427728"/>
              <a:gd name="connsiteY0" fmla="*/ 0 h 2933647"/>
              <a:gd name="connsiteX1" fmla="*/ 1239839 w 1427728"/>
              <a:gd name="connsiteY1" fmla="*/ 0 h 2933647"/>
              <a:gd name="connsiteX2" fmla="*/ 1427728 w 1427728"/>
              <a:gd name="connsiteY2" fmla="*/ 187889 h 2933647"/>
              <a:gd name="connsiteX3" fmla="*/ 1427728 w 1427728"/>
              <a:gd name="connsiteY3" fmla="*/ 2745758 h 2933647"/>
              <a:gd name="connsiteX4" fmla="*/ 1239839 w 1427728"/>
              <a:gd name="connsiteY4" fmla="*/ 2933647 h 2933647"/>
              <a:gd name="connsiteX5" fmla="*/ 187889 w 1427728"/>
              <a:gd name="connsiteY5" fmla="*/ 2933647 h 2933647"/>
              <a:gd name="connsiteX6" fmla="*/ 0 w 1427728"/>
              <a:gd name="connsiteY6" fmla="*/ 2745758 h 2933647"/>
              <a:gd name="connsiteX7" fmla="*/ 0 w 1427728"/>
              <a:gd name="connsiteY7" fmla="*/ 187889 h 2933647"/>
              <a:gd name="connsiteX8" fmla="*/ 187889 w 1427728"/>
              <a:gd name="connsiteY8" fmla="*/ 0 h 293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7728" h="2933647">
                <a:moveTo>
                  <a:pt x="187889" y="0"/>
                </a:moveTo>
                <a:lnTo>
                  <a:pt x="1239839" y="0"/>
                </a:lnTo>
                <a:cubicBezTo>
                  <a:pt x="1343607" y="0"/>
                  <a:pt x="1427728" y="84121"/>
                  <a:pt x="1427728" y="187889"/>
                </a:cubicBezTo>
                <a:lnTo>
                  <a:pt x="1427728" y="2745758"/>
                </a:lnTo>
                <a:cubicBezTo>
                  <a:pt x="1427728" y="2849526"/>
                  <a:pt x="1343607" y="2933647"/>
                  <a:pt x="1239839" y="2933647"/>
                </a:cubicBezTo>
                <a:lnTo>
                  <a:pt x="187889" y="2933647"/>
                </a:lnTo>
                <a:cubicBezTo>
                  <a:pt x="84121" y="2933647"/>
                  <a:pt x="0" y="2849526"/>
                  <a:pt x="0" y="2745758"/>
                </a:cubicBezTo>
                <a:lnTo>
                  <a:pt x="0" y="187889"/>
                </a:lnTo>
                <a:cubicBezTo>
                  <a:pt x="0" y="84121"/>
                  <a:pt x="84121" y="0"/>
                  <a:pt x="18788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74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5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B426A-C27A-9565-6D9A-966088D6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0E287-38B3-4CC5-7F87-D48FA3B55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3602E-0D02-82F9-1B3B-6A007F91F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8ED53-04B1-4CE0-9945-0D8638B42437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05214-69CA-D1A8-CF3E-72321BC87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6C0B3-D4CD-9168-C507-8E716C429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8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21FEF1F-3765-4DD6-BD6D-7D2DE9C59DF4}"/>
              </a:ext>
            </a:extLst>
          </p:cNvPr>
          <p:cNvSpPr/>
          <p:nvPr/>
        </p:nvSpPr>
        <p:spPr>
          <a:xfrm rot="5400000">
            <a:off x="9878829" y="3215937"/>
            <a:ext cx="3316690" cy="4835022"/>
          </a:xfrm>
          <a:custGeom>
            <a:avLst/>
            <a:gdLst>
              <a:gd name="connsiteX0" fmla="*/ 550 w 3991493"/>
              <a:gd name="connsiteY0" fmla="*/ 1642332 h 4835022"/>
              <a:gd name="connsiteX1" fmla="*/ 765521 w 3991493"/>
              <a:gd name="connsiteY1" fmla="*/ 580588 h 4835022"/>
              <a:gd name="connsiteX2" fmla="*/ 2083026 w 3991493"/>
              <a:gd name="connsiteY2" fmla="*/ 100048 h 4835022"/>
              <a:gd name="connsiteX3" fmla="*/ 2715245 w 3991493"/>
              <a:gd name="connsiteY3" fmla="*/ 1509749 h 4835022"/>
              <a:gd name="connsiteX4" fmla="*/ 2721227 w 3991493"/>
              <a:gd name="connsiteY4" fmla="*/ 1521384 h 4835022"/>
              <a:gd name="connsiteX5" fmla="*/ 3318393 w 3991493"/>
              <a:gd name="connsiteY5" fmla="*/ 1521384 h 4835022"/>
              <a:gd name="connsiteX6" fmla="*/ 3929986 w 3991493"/>
              <a:gd name="connsiteY6" fmla="*/ 1521384 h 4835022"/>
              <a:gd name="connsiteX7" fmla="*/ 3991493 w 3991493"/>
              <a:gd name="connsiteY7" fmla="*/ 1521384 h 4835022"/>
              <a:gd name="connsiteX8" fmla="*/ 3991493 w 3991493"/>
              <a:gd name="connsiteY8" fmla="*/ 4315384 h 4835022"/>
              <a:gd name="connsiteX9" fmla="*/ 3598980 w 3991493"/>
              <a:gd name="connsiteY9" fmla="*/ 4315384 h 4835022"/>
              <a:gd name="connsiteX10" fmla="*/ 3619976 w 3991493"/>
              <a:gd name="connsiteY10" fmla="*/ 4405771 h 4835022"/>
              <a:gd name="connsiteX11" fmla="*/ 3664689 w 3991493"/>
              <a:gd name="connsiteY11" fmla="*/ 4832151 h 4835022"/>
              <a:gd name="connsiteX12" fmla="*/ 2683777 w 3991493"/>
              <a:gd name="connsiteY12" fmla="*/ 3360765 h 4835022"/>
              <a:gd name="connsiteX13" fmla="*/ 1889482 w 3991493"/>
              <a:gd name="connsiteY13" fmla="*/ 2464207 h 4835022"/>
              <a:gd name="connsiteX14" fmla="*/ 81357 w 3991493"/>
              <a:gd name="connsiteY14" fmla="*/ 1843552 h 4835022"/>
              <a:gd name="connsiteX15" fmla="*/ 550 w 3991493"/>
              <a:gd name="connsiteY15" fmla="*/ 1642332 h 4835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91493" h="4835022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30CDF02D-CAE1-425F-B0D5-8BB3AD1C0C50}"/>
              </a:ext>
            </a:extLst>
          </p:cNvPr>
          <p:cNvSpPr/>
          <p:nvPr/>
        </p:nvSpPr>
        <p:spPr>
          <a:xfrm>
            <a:off x="10747201" y="4961641"/>
            <a:ext cx="1444799" cy="1343613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Graphic 4">
            <a:extLst>
              <a:ext uri="{FF2B5EF4-FFF2-40B4-BE49-F238E27FC236}">
                <a16:creationId xmlns:a16="http://schemas.microsoft.com/office/drawing/2014/main" id="{834BA1D4-0C72-474A-83FF-2D1B207A407E}"/>
              </a:ext>
            </a:extLst>
          </p:cNvPr>
          <p:cNvSpPr/>
          <p:nvPr/>
        </p:nvSpPr>
        <p:spPr>
          <a:xfrm rot="2476041">
            <a:off x="-1505993" y="-2254131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Graphic 4">
            <a:extLst>
              <a:ext uri="{FF2B5EF4-FFF2-40B4-BE49-F238E27FC236}">
                <a16:creationId xmlns:a16="http://schemas.microsoft.com/office/drawing/2014/main" id="{8C23666D-AA0B-4055-B6D1-F271DD034ADC}"/>
              </a:ext>
            </a:extLst>
          </p:cNvPr>
          <p:cNvSpPr/>
          <p:nvPr/>
        </p:nvSpPr>
        <p:spPr>
          <a:xfrm rot="3140551">
            <a:off x="-2192543" y="-2808187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2DD0B8-1BD4-48CA-8863-8067FDD9A41A}"/>
              </a:ext>
            </a:extLst>
          </p:cNvPr>
          <p:cNvGrpSpPr/>
          <p:nvPr/>
        </p:nvGrpSpPr>
        <p:grpSpPr>
          <a:xfrm>
            <a:off x="4734207" y="96585"/>
            <a:ext cx="4193777" cy="1629335"/>
            <a:chOff x="4734207" y="29910"/>
            <a:chExt cx="4193777" cy="162933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9BD28D-55F8-486A-9F93-D3268DEDBC31}"/>
                </a:ext>
              </a:extLst>
            </p:cNvPr>
            <p:cNvSpPr txBox="1"/>
            <p:nvPr/>
          </p:nvSpPr>
          <p:spPr>
            <a:xfrm>
              <a:off x="4734207" y="29910"/>
              <a:ext cx="4193777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8800" dirty="0">
                  <a:latin typeface="Fira Sans Medium" panose="020B0603050000020004" pitchFamily="34" charset="0"/>
                </a:rPr>
                <a:t>amazon</a:t>
              </a:r>
              <a:endParaRPr lang="en-IN" sz="7200" dirty="0">
                <a:latin typeface="Fira Sans Medium" panose="020B06030500000200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DDA832C-0B8E-44C3-8812-0B0115BD3728}"/>
                </a:ext>
              </a:extLst>
            </p:cNvPr>
            <p:cNvGrpSpPr/>
            <p:nvPr/>
          </p:nvGrpSpPr>
          <p:grpSpPr>
            <a:xfrm>
              <a:off x="5074113" y="1255576"/>
              <a:ext cx="2162175" cy="403669"/>
              <a:chOff x="4569248" y="-2094115"/>
              <a:chExt cx="4123772" cy="928897"/>
            </a:xfrm>
            <a:solidFill>
              <a:srgbClr val="FF9900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72E5EF1-F411-425A-A90F-C84961599327}"/>
                  </a:ext>
                </a:extLst>
              </p:cNvPr>
              <p:cNvSpPr/>
              <p:nvPr/>
            </p:nvSpPr>
            <p:spPr>
              <a:xfrm>
                <a:off x="4569248" y="-2012896"/>
                <a:ext cx="3760827" cy="847678"/>
              </a:xfrm>
              <a:custGeom>
                <a:avLst/>
                <a:gdLst>
                  <a:gd name="connsiteX0" fmla="*/ 4569032 w 4609853"/>
                  <a:gd name="connsiteY0" fmla="*/ 413392 h 1039050"/>
                  <a:gd name="connsiteX1" fmla="*/ 2522490 w 4609853"/>
                  <a:gd name="connsiteY1" fmla="*/ 1039051 h 1039050"/>
                  <a:gd name="connsiteX2" fmla="*/ 22339 w 4609853"/>
                  <a:gd name="connsiteY2" fmla="*/ 85017 h 1039050"/>
                  <a:gd name="connsiteX3" fmla="*/ 79146 w 4609853"/>
                  <a:gd name="connsiteY3" fmla="*/ 10798 h 1039050"/>
                  <a:gd name="connsiteX4" fmla="*/ 2580535 w 4609853"/>
                  <a:gd name="connsiteY4" fmla="*/ 674186 h 1039050"/>
                  <a:gd name="connsiteX5" fmla="*/ 4488602 w 4609853"/>
                  <a:gd name="connsiteY5" fmla="*/ 284033 h 1039050"/>
                  <a:gd name="connsiteX6" fmla="*/ 4569032 w 4609853"/>
                  <a:gd name="connsiteY6" fmla="*/ 413392 h 103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09853" h="1039050">
                    <a:moveTo>
                      <a:pt x="4569032" y="413392"/>
                    </a:moveTo>
                    <a:cubicBezTo>
                      <a:pt x="4015524" y="821376"/>
                      <a:pt x="3213233" y="1039051"/>
                      <a:pt x="2522490" y="1039051"/>
                    </a:cubicBezTo>
                    <a:cubicBezTo>
                      <a:pt x="1553940" y="1039051"/>
                      <a:pt x="682003" y="680825"/>
                      <a:pt x="22339" y="85017"/>
                    </a:cubicBezTo>
                    <a:cubicBezTo>
                      <a:pt x="-29486" y="38164"/>
                      <a:pt x="16958" y="-25682"/>
                      <a:pt x="79146" y="10798"/>
                    </a:cubicBezTo>
                    <a:cubicBezTo>
                      <a:pt x="791045" y="425003"/>
                      <a:pt x="1671279" y="674186"/>
                      <a:pt x="2580535" y="674186"/>
                    </a:cubicBezTo>
                    <a:cubicBezTo>
                      <a:pt x="3193755" y="674186"/>
                      <a:pt x="3868334" y="547313"/>
                      <a:pt x="4488602" y="284033"/>
                    </a:cubicBezTo>
                    <a:cubicBezTo>
                      <a:pt x="4582300" y="244228"/>
                      <a:pt x="4660662" y="345393"/>
                      <a:pt x="4569032" y="41339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36A53D7-29B1-45C8-9FA1-87C9D13A5BE1}"/>
                  </a:ext>
                </a:extLst>
              </p:cNvPr>
              <p:cNvSpPr/>
              <p:nvPr/>
            </p:nvSpPr>
            <p:spPr>
              <a:xfrm>
                <a:off x="7919984" y="-2094115"/>
                <a:ext cx="773036" cy="761367"/>
              </a:xfrm>
              <a:custGeom>
                <a:avLst/>
                <a:gdLst>
                  <a:gd name="connsiteX0" fmla="*/ 691963 w 947553"/>
                  <a:gd name="connsiteY0" fmla="*/ 249669 h 933254"/>
                  <a:gd name="connsiteX1" fmla="*/ 45996 w 947553"/>
                  <a:gd name="connsiteY1" fmla="*/ 228114 h 933254"/>
                  <a:gd name="connsiteX2" fmla="*/ 32309 w 947553"/>
                  <a:gd name="connsiteY2" fmla="*/ 153476 h 933254"/>
                  <a:gd name="connsiteX3" fmla="*/ 928297 w 947553"/>
                  <a:gd name="connsiteY3" fmla="*/ 69723 h 933254"/>
                  <a:gd name="connsiteX4" fmla="*/ 615258 w 947553"/>
                  <a:gd name="connsiteY4" fmla="*/ 913476 h 933254"/>
                  <a:gd name="connsiteX5" fmla="*/ 546430 w 947553"/>
                  <a:gd name="connsiteY5" fmla="*/ 880719 h 933254"/>
                  <a:gd name="connsiteX6" fmla="*/ 691963 w 947553"/>
                  <a:gd name="connsiteY6" fmla="*/ 249669 h 933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7553" h="933254">
                    <a:moveTo>
                      <a:pt x="691963" y="249669"/>
                    </a:moveTo>
                    <a:cubicBezTo>
                      <a:pt x="621477" y="159286"/>
                      <a:pt x="224275" y="206968"/>
                      <a:pt x="45996" y="228114"/>
                    </a:cubicBezTo>
                    <a:cubicBezTo>
                      <a:pt x="-8325" y="234743"/>
                      <a:pt x="-16612" y="187480"/>
                      <a:pt x="32309" y="153476"/>
                    </a:cubicBezTo>
                    <a:cubicBezTo>
                      <a:pt x="348663" y="-69171"/>
                      <a:pt x="867765" y="-4906"/>
                      <a:pt x="928297" y="69723"/>
                    </a:cubicBezTo>
                    <a:cubicBezTo>
                      <a:pt x="988828" y="144770"/>
                      <a:pt x="912543" y="665111"/>
                      <a:pt x="615258" y="913476"/>
                    </a:cubicBezTo>
                    <a:cubicBezTo>
                      <a:pt x="569652" y="951614"/>
                      <a:pt x="526123" y="931297"/>
                      <a:pt x="546430" y="880719"/>
                    </a:cubicBezTo>
                    <a:cubicBezTo>
                      <a:pt x="613191" y="714041"/>
                      <a:pt x="762866" y="340471"/>
                      <a:pt x="691963" y="249669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5" name="Graphic 11">
            <a:extLst>
              <a:ext uri="{FF2B5EF4-FFF2-40B4-BE49-F238E27FC236}">
                <a16:creationId xmlns:a16="http://schemas.microsoft.com/office/drawing/2014/main" id="{22B03510-4CF1-46CA-BE80-1E37CD0837F6}"/>
              </a:ext>
            </a:extLst>
          </p:cNvPr>
          <p:cNvSpPr/>
          <p:nvPr/>
        </p:nvSpPr>
        <p:spPr>
          <a:xfrm rot="8901965">
            <a:off x="2258794" y="555042"/>
            <a:ext cx="1370251" cy="1274286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4882103-816A-94D8-9340-2267B8B8731E}"/>
              </a:ext>
            </a:extLst>
          </p:cNvPr>
          <p:cNvSpPr txBox="1">
            <a:spLocks/>
          </p:cNvSpPr>
          <p:nvPr/>
        </p:nvSpPr>
        <p:spPr>
          <a:xfrm>
            <a:off x="2473989" y="2150970"/>
            <a:ext cx="9144000" cy="1278029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i="1" dirty="0">
                <a:latin typeface="Palatino Linotype" panose="02040502050505030304" pitchFamily="18" charset="0"/>
              </a:rPr>
              <a:t>Amazon E-Commerce Performance Analysis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AFE88FF-9583-7F9B-1AEE-276186B37101}"/>
              </a:ext>
            </a:extLst>
          </p:cNvPr>
          <p:cNvSpPr txBox="1">
            <a:spLocks/>
          </p:cNvSpPr>
          <p:nvPr/>
        </p:nvSpPr>
        <p:spPr>
          <a:xfrm>
            <a:off x="2473989" y="3508328"/>
            <a:ext cx="9144000" cy="827881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Business Insights &amp; Recommendations using Power BI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426F955-078C-CC65-764C-999F4998B191}"/>
              </a:ext>
            </a:extLst>
          </p:cNvPr>
          <p:cNvSpPr txBox="1">
            <a:spLocks/>
          </p:cNvSpPr>
          <p:nvPr/>
        </p:nvSpPr>
        <p:spPr>
          <a:xfrm>
            <a:off x="111892" y="5816600"/>
            <a:ext cx="3298058" cy="7848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Presented By –</a:t>
            </a:r>
          </a:p>
          <a:p>
            <a:pPr marL="0" indent="0">
              <a:buNone/>
            </a:pPr>
            <a:r>
              <a:rPr lang="en-US" i="1" dirty="0"/>
              <a:t>Vivek Yadav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156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A622-5BFE-38FB-3F74-4EAE2355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511999B-1C13-B25D-3F8C-570B4A660C14}"/>
              </a:ext>
            </a:extLst>
          </p:cNvPr>
          <p:cNvSpPr txBox="1">
            <a:spLocks/>
          </p:cNvSpPr>
          <p:nvPr/>
        </p:nvSpPr>
        <p:spPr>
          <a:xfrm>
            <a:off x="1773874" y="0"/>
            <a:ext cx="7939892" cy="7990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37D0A-F05C-CD43-670F-B474F754B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60" y="799063"/>
            <a:ext cx="11859208" cy="60589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89179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8BDC5375-5814-427B-930D-D88EDD79BF3F}"/>
              </a:ext>
            </a:extLst>
          </p:cNvPr>
          <p:cNvSpPr txBox="1"/>
          <p:nvPr/>
        </p:nvSpPr>
        <p:spPr>
          <a:xfrm>
            <a:off x="155699" y="2961219"/>
            <a:ext cx="3813865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>
              <a:latin typeface="Fira Sans Medium" panose="020B06030500000200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6F31C-5620-0375-8975-F5FD44FDA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1727" y="900147"/>
            <a:ext cx="6777962" cy="5262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Explosive growth in e-commerce has led to massive customer and sales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needs to identify top-performing products, categories, and customers for better strategy.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competition requires data-driven insights to improve profitability.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decisions are hindered by unstructured data and hidden patterns.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consolidated reporting makes it difficult to track revenue trends and customer behavior.</a:t>
            </a:r>
          </a:p>
        </p:txBody>
      </p:sp>
    </p:spTree>
    <p:extLst>
      <p:ext uri="{BB962C8B-B14F-4D97-AF65-F5344CB8AC3E}">
        <p14:creationId xmlns:p14="http://schemas.microsoft.com/office/powerpoint/2010/main" val="136443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01B0333-67C2-4114-8841-981615299F70}"/>
              </a:ext>
            </a:extLst>
          </p:cNvPr>
          <p:cNvGrpSpPr/>
          <p:nvPr/>
        </p:nvGrpSpPr>
        <p:grpSpPr>
          <a:xfrm>
            <a:off x="939830" y="1031216"/>
            <a:ext cx="10312340" cy="1826284"/>
            <a:chOff x="3311855" y="3736152"/>
            <a:chExt cx="4123771" cy="928902"/>
          </a:xfrm>
          <a:solidFill>
            <a:srgbClr val="FF990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3B074F-AF3B-45D4-9277-1CA1BB0C11C6}"/>
                </a:ext>
              </a:extLst>
            </p:cNvPr>
            <p:cNvSpPr/>
            <p:nvPr/>
          </p:nvSpPr>
          <p:spPr>
            <a:xfrm>
              <a:off x="3311855" y="3817376"/>
              <a:ext cx="3760826" cy="847678"/>
            </a:xfrm>
            <a:custGeom>
              <a:avLst/>
              <a:gdLst>
                <a:gd name="connsiteX0" fmla="*/ 4569032 w 4609853"/>
                <a:gd name="connsiteY0" fmla="*/ 413392 h 1039050"/>
                <a:gd name="connsiteX1" fmla="*/ 2522490 w 4609853"/>
                <a:gd name="connsiteY1" fmla="*/ 1039051 h 1039050"/>
                <a:gd name="connsiteX2" fmla="*/ 22339 w 4609853"/>
                <a:gd name="connsiteY2" fmla="*/ 85017 h 1039050"/>
                <a:gd name="connsiteX3" fmla="*/ 79146 w 4609853"/>
                <a:gd name="connsiteY3" fmla="*/ 10798 h 1039050"/>
                <a:gd name="connsiteX4" fmla="*/ 2580535 w 4609853"/>
                <a:gd name="connsiteY4" fmla="*/ 674186 h 1039050"/>
                <a:gd name="connsiteX5" fmla="*/ 4488602 w 4609853"/>
                <a:gd name="connsiteY5" fmla="*/ 284033 h 1039050"/>
                <a:gd name="connsiteX6" fmla="*/ 4569032 w 4609853"/>
                <a:gd name="connsiteY6" fmla="*/ 413392 h 103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09853" h="1039050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D209F1-7EAD-4F07-B776-7C23C809D52D}"/>
                </a:ext>
              </a:extLst>
            </p:cNvPr>
            <p:cNvSpPr/>
            <p:nvPr/>
          </p:nvSpPr>
          <p:spPr>
            <a:xfrm>
              <a:off x="6662590" y="3736152"/>
              <a:ext cx="773036" cy="761368"/>
            </a:xfrm>
            <a:custGeom>
              <a:avLst/>
              <a:gdLst>
                <a:gd name="connsiteX0" fmla="*/ 691963 w 947553"/>
                <a:gd name="connsiteY0" fmla="*/ 249669 h 933254"/>
                <a:gd name="connsiteX1" fmla="*/ 45996 w 947553"/>
                <a:gd name="connsiteY1" fmla="*/ 228114 h 933254"/>
                <a:gd name="connsiteX2" fmla="*/ 32309 w 947553"/>
                <a:gd name="connsiteY2" fmla="*/ 153476 h 933254"/>
                <a:gd name="connsiteX3" fmla="*/ 928297 w 947553"/>
                <a:gd name="connsiteY3" fmla="*/ 69723 h 933254"/>
                <a:gd name="connsiteX4" fmla="*/ 615258 w 947553"/>
                <a:gd name="connsiteY4" fmla="*/ 913476 h 933254"/>
                <a:gd name="connsiteX5" fmla="*/ 546430 w 947553"/>
                <a:gd name="connsiteY5" fmla="*/ 880719 h 933254"/>
                <a:gd name="connsiteX6" fmla="*/ 691963 w 947553"/>
                <a:gd name="connsiteY6" fmla="*/ 249669 h 93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53" h="933254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A73F2E-1D78-DC92-A4A0-568D47454B75}"/>
              </a:ext>
            </a:extLst>
          </p:cNvPr>
          <p:cNvSpPr txBox="1">
            <a:spLocks/>
          </p:cNvSpPr>
          <p:nvPr/>
        </p:nvSpPr>
        <p:spPr>
          <a:xfrm>
            <a:off x="3240832" y="737724"/>
            <a:ext cx="5710335" cy="72718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D6D11-25AE-1192-EF6A-D86ABB1DB52A}"/>
              </a:ext>
            </a:extLst>
          </p:cNvPr>
          <p:cNvSpPr txBox="1">
            <a:spLocks/>
          </p:cNvSpPr>
          <p:nvPr/>
        </p:nvSpPr>
        <p:spPr>
          <a:xfrm>
            <a:off x="769596" y="3216489"/>
            <a:ext cx="10817469" cy="35025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: Amazon E-Commerce (Orders </a:t>
            </a:r>
            <a:r>
              <a:rPr lang="en-IN" sz="2400"/>
              <a:t>&amp;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Customers)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: ~1,000+ records across multiple tables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Tables &amp; Key Fields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→ OrderID, Date, Status, Sale Price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CustomerID, Location, Purchase History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Cleaned duplicates, fixed missing values, standardized dates &amp; prices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845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C30CE42-79BC-039B-3520-318053BE31C6}"/>
              </a:ext>
            </a:extLst>
          </p:cNvPr>
          <p:cNvSpPr txBox="1"/>
          <p:nvPr/>
        </p:nvSpPr>
        <p:spPr>
          <a:xfrm>
            <a:off x="155700" y="2961219"/>
            <a:ext cx="3725836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&amp; Analysis Focus</a:t>
            </a: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Sans Medium" panose="020B06030500000200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37841E-FF3C-9EA2-213C-BF6395D6775B}"/>
              </a:ext>
            </a:extLst>
          </p:cNvPr>
          <p:cNvSpPr txBox="1">
            <a:spLocks/>
          </p:cNvSpPr>
          <p:nvPr/>
        </p:nvSpPr>
        <p:spPr>
          <a:xfrm>
            <a:off x="5019869" y="326571"/>
            <a:ext cx="6904654" cy="64101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extraction, transformation, table joins.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Quick exploration &amp; validation checks.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Dashboards, DAX calculations, visuals.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Focus</a:t>
            </a:r>
          </a:p>
          <a:p>
            <a:pPr algn="just"/>
            <a:r>
              <a:rPr lang="en-IN" dirty="0"/>
              <a:t>Cleaned and prepared data</a:t>
            </a:r>
          </a:p>
          <a:p>
            <a:pPr algn="just"/>
            <a:r>
              <a:rPr lang="en-US" dirty="0"/>
              <a:t>Analyzed patterns (sales, returns, customer behavior)</a:t>
            </a:r>
          </a:p>
          <a:p>
            <a:pPr algn="just"/>
            <a:r>
              <a:rPr lang="en-US" dirty="0"/>
              <a:t>Built interactive dashboard to derive insights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81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1C3ACB3-53E0-7EB0-C514-F906A2B279A5}"/>
              </a:ext>
            </a:extLst>
          </p:cNvPr>
          <p:cNvGrpSpPr/>
          <p:nvPr/>
        </p:nvGrpSpPr>
        <p:grpSpPr>
          <a:xfrm>
            <a:off x="1041460" y="599276"/>
            <a:ext cx="10312340" cy="1826284"/>
            <a:chOff x="3311855" y="3736152"/>
            <a:chExt cx="4123771" cy="928902"/>
          </a:xfrm>
          <a:solidFill>
            <a:srgbClr val="FF9900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1FD518-F074-3852-B420-45BBD66B97E8}"/>
                </a:ext>
              </a:extLst>
            </p:cNvPr>
            <p:cNvSpPr/>
            <p:nvPr/>
          </p:nvSpPr>
          <p:spPr>
            <a:xfrm>
              <a:off x="3311855" y="3817376"/>
              <a:ext cx="3760826" cy="847678"/>
            </a:xfrm>
            <a:custGeom>
              <a:avLst/>
              <a:gdLst>
                <a:gd name="connsiteX0" fmla="*/ 4569032 w 4609853"/>
                <a:gd name="connsiteY0" fmla="*/ 413392 h 1039050"/>
                <a:gd name="connsiteX1" fmla="*/ 2522490 w 4609853"/>
                <a:gd name="connsiteY1" fmla="*/ 1039051 h 1039050"/>
                <a:gd name="connsiteX2" fmla="*/ 22339 w 4609853"/>
                <a:gd name="connsiteY2" fmla="*/ 85017 h 1039050"/>
                <a:gd name="connsiteX3" fmla="*/ 79146 w 4609853"/>
                <a:gd name="connsiteY3" fmla="*/ 10798 h 1039050"/>
                <a:gd name="connsiteX4" fmla="*/ 2580535 w 4609853"/>
                <a:gd name="connsiteY4" fmla="*/ 674186 h 1039050"/>
                <a:gd name="connsiteX5" fmla="*/ 4488602 w 4609853"/>
                <a:gd name="connsiteY5" fmla="*/ 284033 h 1039050"/>
                <a:gd name="connsiteX6" fmla="*/ 4569032 w 4609853"/>
                <a:gd name="connsiteY6" fmla="*/ 413392 h 103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09853" h="1039050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E7F5A43-6E2E-8CBA-DDBC-489082077096}"/>
                </a:ext>
              </a:extLst>
            </p:cNvPr>
            <p:cNvSpPr/>
            <p:nvPr/>
          </p:nvSpPr>
          <p:spPr>
            <a:xfrm>
              <a:off x="6662590" y="3736152"/>
              <a:ext cx="773036" cy="761368"/>
            </a:xfrm>
            <a:custGeom>
              <a:avLst/>
              <a:gdLst>
                <a:gd name="connsiteX0" fmla="*/ 691963 w 947553"/>
                <a:gd name="connsiteY0" fmla="*/ 249669 h 933254"/>
                <a:gd name="connsiteX1" fmla="*/ 45996 w 947553"/>
                <a:gd name="connsiteY1" fmla="*/ 228114 h 933254"/>
                <a:gd name="connsiteX2" fmla="*/ 32309 w 947553"/>
                <a:gd name="connsiteY2" fmla="*/ 153476 h 933254"/>
                <a:gd name="connsiteX3" fmla="*/ 928297 w 947553"/>
                <a:gd name="connsiteY3" fmla="*/ 69723 h 933254"/>
                <a:gd name="connsiteX4" fmla="*/ 615258 w 947553"/>
                <a:gd name="connsiteY4" fmla="*/ 913476 h 933254"/>
                <a:gd name="connsiteX5" fmla="*/ 546430 w 947553"/>
                <a:gd name="connsiteY5" fmla="*/ 880719 h 933254"/>
                <a:gd name="connsiteX6" fmla="*/ 691963 w 947553"/>
                <a:gd name="connsiteY6" fmla="*/ 249669 h 93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53" h="933254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4BFD522-77B3-2348-D47D-1B091BB6B04D}"/>
              </a:ext>
            </a:extLst>
          </p:cNvPr>
          <p:cNvSpPr txBox="1">
            <a:spLocks/>
          </p:cNvSpPr>
          <p:nvPr/>
        </p:nvSpPr>
        <p:spPr>
          <a:xfrm>
            <a:off x="1773874" y="359436"/>
            <a:ext cx="7939892" cy="7990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81D9F4-7D2D-F9E1-4B46-6CCF4A2D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932" y="2432473"/>
            <a:ext cx="7189766" cy="989614"/>
          </a:xfrm>
          <a:prstGeom prst="rect">
            <a:avLst/>
          </a:prstGeom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69DE669A-A2B8-4A39-26B2-65C79B74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564" y="3880261"/>
            <a:ext cx="11284026" cy="27853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$107.24M → Strong revenue base across 44 products.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Products: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44 → A moderately diverse product portfolio.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Delivery Time: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9.41 days → Delivery times are slightly long, scope for logistics improvement.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Percentage: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27.01% → A significant concern, over 1 in 4 products returned.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Returned Products: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31K → Indicates high customer dissatisfaction or product mismatch.</a:t>
            </a:r>
          </a:p>
        </p:txBody>
      </p:sp>
    </p:spTree>
    <p:extLst>
      <p:ext uri="{BB962C8B-B14F-4D97-AF65-F5344CB8AC3E}">
        <p14:creationId xmlns:p14="http://schemas.microsoft.com/office/powerpoint/2010/main" val="388912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527499-9CEB-4905-65F9-18243260D32E}"/>
              </a:ext>
            </a:extLst>
          </p:cNvPr>
          <p:cNvSpPr txBox="1">
            <a:spLocks/>
          </p:cNvSpPr>
          <p:nvPr/>
        </p:nvSpPr>
        <p:spPr>
          <a:xfrm>
            <a:off x="2932282" y="127784"/>
            <a:ext cx="6327436" cy="66278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Overall Sales Performance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4BE553-633F-BD9E-9727-85A5E1E3F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960" y="827158"/>
            <a:ext cx="9992063" cy="2411342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A13ED34-7575-0C64-45EE-297E5515EEBF}"/>
              </a:ext>
            </a:extLst>
          </p:cNvPr>
          <p:cNvSpPr txBox="1">
            <a:spLocks/>
          </p:cNvSpPr>
          <p:nvPr/>
        </p:nvSpPr>
        <p:spPr>
          <a:xfrm>
            <a:off x="60005" y="3606483"/>
            <a:ext cx="12071990" cy="31592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remained stable around ~$2M annually from 2015–2019.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saw a sharp surge, with top products reaching $3.3M, driven by demand for Amazon Fire Tablets &amp; Canon Cameras.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Amazon Fire HD 8 Kids Tablet consistently outperformed, becoming the top revenue driver in 2020.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the role of flagship products in scaling revenue and the importance of timely product promotion.</a:t>
            </a:r>
          </a:p>
        </p:txBody>
      </p:sp>
    </p:spTree>
    <p:extLst>
      <p:ext uri="{BB962C8B-B14F-4D97-AF65-F5344CB8AC3E}">
        <p14:creationId xmlns:p14="http://schemas.microsoft.com/office/powerpoint/2010/main" val="1247183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87180-013C-5A7D-8CB6-846949EE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31636D-2AD4-F4A7-58FB-D90E6DBC5A35}"/>
              </a:ext>
            </a:extLst>
          </p:cNvPr>
          <p:cNvSpPr txBox="1">
            <a:spLocks/>
          </p:cNvSpPr>
          <p:nvPr/>
        </p:nvSpPr>
        <p:spPr>
          <a:xfrm>
            <a:off x="1175543" y="123784"/>
            <a:ext cx="10515600" cy="66278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Seasonality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DF3E1-A861-E219-0B44-9D6671E68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930628"/>
            <a:ext cx="9363075" cy="252882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2EFFF3-8FC9-4C75-61B2-D6A5674E9510}"/>
              </a:ext>
            </a:extLst>
          </p:cNvPr>
          <p:cNvSpPr txBox="1">
            <a:spLocks/>
          </p:cNvSpPr>
          <p:nvPr/>
        </p:nvSpPr>
        <p:spPr>
          <a:xfrm>
            <a:off x="104328" y="3675092"/>
            <a:ext cx="11983344" cy="30591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peaks in January–March (~$9.8M), indicating strong demand post-holiday season.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decline begins from April (~$9.7M) to July (~$8.7M), suggesting a slowdown in customer spending.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August to November, revenue remains flat at $8.3M–$8.4M, marking the lowest demand period.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importance of early-year promotions and targeted campaigns during low-demand months to stabilize revenue.</a:t>
            </a:r>
          </a:p>
        </p:txBody>
      </p:sp>
    </p:spTree>
    <p:extLst>
      <p:ext uri="{BB962C8B-B14F-4D97-AF65-F5344CB8AC3E}">
        <p14:creationId xmlns:p14="http://schemas.microsoft.com/office/powerpoint/2010/main" val="124430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066BC-B902-E475-4FCE-981783F0B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55D0282-3366-DD48-D63A-D698168D8302}"/>
              </a:ext>
            </a:extLst>
          </p:cNvPr>
          <p:cNvSpPr txBox="1">
            <a:spLocks/>
          </p:cNvSpPr>
          <p:nvPr/>
        </p:nvSpPr>
        <p:spPr>
          <a:xfrm>
            <a:off x="888340" y="154568"/>
            <a:ext cx="10515600" cy="66278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 Revenue-Generating Locations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090C6-C037-142A-3082-0FFD3012D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850" y="1112318"/>
            <a:ext cx="8422942" cy="2400657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98A75903-3111-83B1-DE8E-4CFA70BF1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933" y="4146133"/>
            <a:ext cx="11204133" cy="20159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Accra and Ashanti dominate revenue with $27M and $23M.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Western and Weija follow, but significantly lower.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West generates the least ($5M).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is highly concentrated in a few key regions → scope to expand presence in underperforming areas.</a:t>
            </a:r>
          </a:p>
        </p:txBody>
      </p:sp>
    </p:spTree>
    <p:extLst>
      <p:ext uri="{BB962C8B-B14F-4D97-AF65-F5344CB8AC3E}">
        <p14:creationId xmlns:p14="http://schemas.microsoft.com/office/powerpoint/2010/main" val="100944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318E-187F-155E-9505-1DA1D8C3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128D1AF-43BD-CA72-2CDB-A6EF26FD31C0}"/>
              </a:ext>
            </a:extLst>
          </p:cNvPr>
          <p:cNvSpPr txBox="1">
            <a:spLocks/>
          </p:cNvSpPr>
          <p:nvPr/>
        </p:nvSpPr>
        <p:spPr>
          <a:xfrm>
            <a:off x="1317923" y="102620"/>
            <a:ext cx="9556153" cy="66278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Sales &amp; Order Volume by Customer Rating</a:t>
            </a:r>
            <a:endParaRPr lang="en-IN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04933C-0CC8-B437-CE91-64DA54113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539" y="1043241"/>
            <a:ext cx="6288832" cy="2623690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5713EF41-9C2A-9A0F-04F0-9251D0A75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45" y="4144056"/>
            <a:ext cx="11774306" cy="20159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1–3 show high sales volume ($25M each), but drop sharply at ratings 4–5 ($16M).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quantity also falls at higher ratings.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leaving higher ratings buy fewer items — need to explore loyalty or premium product strategies.</a:t>
            </a:r>
          </a:p>
        </p:txBody>
      </p:sp>
    </p:spTree>
    <p:extLst>
      <p:ext uri="{BB962C8B-B14F-4D97-AF65-F5344CB8AC3E}">
        <p14:creationId xmlns:p14="http://schemas.microsoft.com/office/powerpoint/2010/main" val="27444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2B46-94C3-C1EA-0F3F-0BA28DF6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4DA15FF-2A4F-263F-9EA3-28B55D3283FD}"/>
              </a:ext>
            </a:extLst>
          </p:cNvPr>
          <p:cNvSpPr txBox="1">
            <a:spLocks/>
          </p:cNvSpPr>
          <p:nvPr/>
        </p:nvSpPr>
        <p:spPr>
          <a:xfrm>
            <a:off x="1059144" y="98159"/>
            <a:ext cx="9556153" cy="66278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 Subcategories by Order Volume</a:t>
            </a:r>
            <a:endParaRPr lang="en-IN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88BA6-2129-4513-2B70-5E54ADC60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468" y="954192"/>
            <a:ext cx="6781507" cy="2647424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6A742A2-5EEB-CEFF-3359-8BA323BE7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43" y="3988118"/>
            <a:ext cx="11754386" cy="20159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Vitamins &amp; Dietary Supplements lead with 71K orders.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Supplies, Men’s &amp; Women’s Fashion follow closely.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Kitchen &amp; Dining also contributes strongly (~43K).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products are the strongest category → marketing &amp; bundling strategies can further drive growth.</a:t>
            </a:r>
          </a:p>
        </p:txBody>
      </p:sp>
    </p:spTree>
    <p:extLst>
      <p:ext uri="{BB962C8B-B14F-4D97-AF65-F5344CB8AC3E}">
        <p14:creationId xmlns:p14="http://schemas.microsoft.com/office/powerpoint/2010/main" val="2003798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8AE43-C533-3E99-0BB6-2C6A2B7E2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9E9B147-3F3C-FDC6-C6A8-91F0083CE6D8}"/>
              </a:ext>
            </a:extLst>
          </p:cNvPr>
          <p:cNvSpPr txBox="1">
            <a:spLocks/>
          </p:cNvSpPr>
          <p:nvPr/>
        </p:nvSpPr>
        <p:spPr>
          <a:xfrm>
            <a:off x="1392447" y="329550"/>
            <a:ext cx="9785626" cy="66278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Loyalty Tiers: Customer Base vs. Revenue Impact</a:t>
            </a:r>
            <a:endParaRPr lang="en-IN" sz="3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B3828C9F-4D1B-C888-4E2D-5EE315440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447" y="1287823"/>
            <a:ext cx="8871438" cy="2141177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C1D5E5-3D5C-A444-1968-800C689C9AA7}"/>
              </a:ext>
            </a:extLst>
          </p:cNvPr>
          <p:cNvSpPr txBox="1"/>
          <p:nvPr/>
        </p:nvSpPr>
        <p:spPr>
          <a:xfrm>
            <a:off x="167489" y="4019983"/>
            <a:ext cx="11857022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customers are in Bronze and Silver tiers, indicating high acquisition but low upgrade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Platinum customers contribute the highest revenue ($52M) despite being only ~11K in count — showing strong value per customer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966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7F851-5E66-7003-9DAC-AD6CBF46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73B274E-6DB9-6A9F-F23C-1A83ABAB6EAC}"/>
              </a:ext>
            </a:extLst>
          </p:cNvPr>
          <p:cNvGrpSpPr/>
          <p:nvPr/>
        </p:nvGrpSpPr>
        <p:grpSpPr>
          <a:xfrm>
            <a:off x="939830" y="1031216"/>
            <a:ext cx="10312340" cy="1826284"/>
            <a:chOff x="3311855" y="3736152"/>
            <a:chExt cx="4123771" cy="928902"/>
          </a:xfrm>
          <a:solidFill>
            <a:srgbClr val="FF990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EB3307B-DF95-C3A5-ED48-7B43EB92E7B0}"/>
                </a:ext>
              </a:extLst>
            </p:cNvPr>
            <p:cNvSpPr/>
            <p:nvPr/>
          </p:nvSpPr>
          <p:spPr>
            <a:xfrm>
              <a:off x="3311855" y="3817376"/>
              <a:ext cx="3760826" cy="847678"/>
            </a:xfrm>
            <a:custGeom>
              <a:avLst/>
              <a:gdLst>
                <a:gd name="connsiteX0" fmla="*/ 4569032 w 4609853"/>
                <a:gd name="connsiteY0" fmla="*/ 413392 h 1039050"/>
                <a:gd name="connsiteX1" fmla="*/ 2522490 w 4609853"/>
                <a:gd name="connsiteY1" fmla="*/ 1039051 h 1039050"/>
                <a:gd name="connsiteX2" fmla="*/ 22339 w 4609853"/>
                <a:gd name="connsiteY2" fmla="*/ 85017 h 1039050"/>
                <a:gd name="connsiteX3" fmla="*/ 79146 w 4609853"/>
                <a:gd name="connsiteY3" fmla="*/ 10798 h 1039050"/>
                <a:gd name="connsiteX4" fmla="*/ 2580535 w 4609853"/>
                <a:gd name="connsiteY4" fmla="*/ 674186 h 1039050"/>
                <a:gd name="connsiteX5" fmla="*/ 4488602 w 4609853"/>
                <a:gd name="connsiteY5" fmla="*/ 284033 h 1039050"/>
                <a:gd name="connsiteX6" fmla="*/ 4569032 w 4609853"/>
                <a:gd name="connsiteY6" fmla="*/ 413392 h 103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09853" h="1039050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B9ECCA-092C-97A9-0041-7F0EFEFC907A}"/>
                </a:ext>
              </a:extLst>
            </p:cNvPr>
            <p:cNvSpPr/>
            <p:nvPr/>
          </p:nvSpPr>
          <p:spPr>
            <a:xfrm>
              <a:off x="6662590" y="3736152"/>
              <a:ext cx="773036" cy="761368"/>
            </a:xfrm>
            <a:custGeom>
              <a:avLst/>
              <a:gdLst>
                <a:gd name="connsiteX0" fmla="*/ 691963 w 947553"/>
                <a:gd name="connsiteY0" fmla="*/ 249669 h 933254"/>
                <a:gd name="connsiteX1" fmla="*/ 45996 w 947553"/>
                <a:gd name="connsiteY1" fmla="*/ 228114 h 933254"/>
                <a:gd name="connsiteX2" fmla="*/ 32309 w 947553"/>
                <a:gd name="connsiteY2" fmla="*/ 153476 h 933254"/>
                <a:gd name="connsiteX3" fmla="*/ 928297 w 947553"/>
                <a:gd name="connsiteY3" fmla="*/ 69723 h 933254"/>
                <a:gd name="connsiteX4" fmla="*/ 615258 w 947553"/>
                <a:gd name="connsiteY4" fmla="*/ 913476 h 933254"/>
                <a:gd name="connsiteX5" fmla="*/ 546430 w 947553"/>
                <a:gd name="connsiteY5" fmla="*/ 880719 h 933254"/>
                <a:gd name="connsiteX6" fmla="*/ 691963 w 947553"/>
                <a:gd name="connsiteY6" fmla="*/ 249669 h 93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53" h="933254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F8D7F2-B7D3-5737-5731-9C37D950C6D4}"/>
              </a:ext>
            </a:extLst>
          </p:cNvPr>
          <p:cNvSpPr txBox="1">
            <a:spLocks/>
          </p:cNvSpPr>
          <p:nvPr/>
        </p:nvSpPr>
        <p:spPr>
          <a:xfrm>
            <a:off x="3240832" y="737724"/>
            <a:ext cx="5710335" cy="72718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B32F92-5F3E-0D71-F25E-45B4EF1B4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40133"/>
            <a:ext cx="12192000" cy="27853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 small proportion of customers and select categories drive the majority of sales.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May and June consistently show higher revenue, making them ideal for targeted campaigns.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Platinum and Silver tiers generate the largest revenue share, even with fewer transactions.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regions and categories highlight untapped potential for scaling growth.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603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8DCF-3F56-509A-E742-D9895C63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EC1A925-2DBF-8C44-D7DB-62DF12958D63}"/>
              </a:ext>
            </a:extLst>
          </p:cNvPr>
          <p:cNvSpPr txBox="1"/>
          <p:nvPr/>
        </p:nvSpPr>
        <p:spPr>
          <a:xfrm>
            <a:off x="155700" y="2961219"/>
            <a:ext cx="3725836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Sans Medium" panose="020B06030500000200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F4E642F-CFA0-1819-36C3-63E24D72F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0422" y="521484"/>
            <a:ext cx="6896778" cy="60016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tier-based rewards and personalized offers to retain Platinum and Silver customers.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stock and discounts with seasonal peaks (May–June) and top-selling categories.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marketing and operations in top revenue regions, while addressing gaps in underperforming ones.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agent/product training to lift lower-rated transactions, boosting both satisfaction and revenue.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fast-growing subcategories like Baby Products &amp; Supplements to diversify and expand sales growth.</a:t>
            </a:r>
          </a:p>
        </p:txBody>
      </p:sp>
    </p:spTree>
    <p:extLst>
      <p:ext uri="{BB962C8B-B14F-4D97-AF65-F5344CB8AC3E}">
        <p14:creationId xmlns:p14="http://schemas.microsoft.com/office/powerpoint/2010/main" val="1781285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2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25B8-367C-DF60-C766-5EFCB5012D04}"/>
              </a:ext>
            </a:extLst>
          </p:cNvPr>
          <p:cNvSpPr txBox="1">
            <a:spLocks/>
          </p:cNvSpPr>
          <p:nvPr/>
        </p:nvSpPr>
        <p:spPr>
          <a:xfrm>
            <a:off x="838200" y="18255"/>
            <a:ext cx="10515600" cy="7906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C1C904-2E2A-C9B5-FEDC-CD4FE2841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" y="743576"/>
            <a:ext cx="12055151" cy="5967107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20406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2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75AEB-6DBB-139E-A817-492EA097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28E2-9574-254A-375B-B4E760785C78}"/>
              </a:ext>
            </a:extLst>
          </p:cNvPr>
          <p:cNvSpPr txBox="1">
            <a:spLocks/>
          </p:cNvSpPr>
          <p:nvPr/>
        </p:nvSpPr>
        <p:spPr>
          <a:xfrm>
            <a:off x="838200" y="18255"/>
            <a:ext cx="10041294" cy="4949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C91A3F-BD88-FD20-1AC8-C13EBA0B3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33" y="830423"/>
            <a:ext cx="11513975" cy="5979861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942425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2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63FF0-A49F-8DB3-E86D-17B92E67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E987B-8924-EC6C-C629-17A5E7FFADE5}"/>
              </a:ext>
            </a:extLst>
          </p:cNvPr>
          <p:cNvSpPr txBox="1">
            <a:spLocks/>
          </p:cNvSpPr>
          <p:nvPr/>
        </p:nvSpPr>
        <p:spPr>
          <a:xfrm>
            <a:off x="838200" y="18255"/>
            <a:ext cx="10515600" cy="7906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7CA30-D095-1CC7-6CB2-5F6FA771C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61" y="808892"/>
            <a:ext cx="11849877" cy="5941153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797125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21FEF1F-3765-4DD6-BD6D-7D2DE9C59DF4}"/>
              </a:ext>
            </a:extLst>
          </p:cNvPr>
          <p:cNvSpPr/>
          <p:nvPr/>
        </p:nvSpPr>
        <p:spPr>
          <a:xfrm rot="5400000">
            <a:off x="9878829" y="3215937"/>
            <a:ext cx="3316690" cy="4835022"/>
          </a:xfrm>
          <a:custGeom>
            <a:avLst/>
            <a:gdLst>
              <a:gd name="connsiteX0" fmla="*/ 550 w 3991493"/>
              <a:gd name="connsiteY0" fmla="*/ 1642332 h 4835022"/>
              <a:gd name="connsiteX1" fmla="*/ 765521 w 3991493"/>
              <a:gd name="connsiteY1" fmla="*/ 580588 h 4835022"/>
              <a:gd name="connsiteX2" fmla="*/ 2083026 w 3991493"/>
              <a:gd name="connsiteY2" fmla="*/ 100048 h 4835022"/>
              <a:gd name="connsiteX3" fmla="*/ 2715245 w 3991493"/>
              <a:gd name="connsiteY3" fmla="*/ 1509749 h 4835022"/>
              <a:gd name="connsiteX4" fmla="*/ 2721227 w 3991493"/>
              <a:gd name="connsiteY4" fmla="*/ 1521384 h 4835022"/>
              <a:gd name="connsiteX5" fmla="*/ 3318393 w 3991493"/>
              <a:gd name="connsiteY5" fmla="*/ 1521384 h 4835022"/>
              <a:gd name="connsiteX6" fmla="*/ 3929986 w 3991493"/>
              <a:gd name="connsiteY6" fmla="*/ 1521384 h 4835022"/>
              <a:gd name="connsiteX7" fmla="*/ 3991493 w 3991493"/>
              <a:gd name="connsiteY7" fmla="*/ 1521384 h 4835022"/>
              <a:gd name="connsiteX8" fmla="*/ 3991493 w 3991493"/>
              <a:gd name="connsiteY8" fmla="*/ 4315384 h 4835022"/>
              <a:gd name="connsiteX9" fmla="*/ 3598980 w 3991493"/>
              <a:gd name="connsiteY9" fmla="*/ 4315384 h 4835022"/>
              <a:gd name="connsiteX10" fmla="*/ 3619976 w 3991493"/>
              <a:gd name="connsiteY10" fmla="*/ 4405771 h 4835022"/>
              <a:gd name="connsiteX11" fmla="*/ 3664689 w 3991493"/>
              <a:gd name="connsiteY11" fmla="*/ 4832151 h 4835022"/>
              <a:gd name="connsiteX12" fmla="*/ 2683777 w 3991493"/>
              <a:gd name="connsiteY12" fmla="*/ 3360765 h 4835022"/>
              <a:gd name="connsiteX13" fmla="*/ 1889482 w 3991493"/>
              <a:gd name="connsiteY13" fmla="*/ 2464207 h 4835022"/>
              <a:gd name="connsiteX14" fmla="*/ 81357 w 3991493"/>
              <a:gd name="connsiteY14" fmla="*/ 1843552 h 4835022"/>
              <a:gd name="connsiteX15" fmla="*/ 550 w 3991493"/>
              <a:gd name="connsiteY15" fmla="*/ 1642332 h 4835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91493" h="4835022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9BD28D-55F8-486A-9F93-D3268DEDBC31}"/>
              </a:ext>
            </a:extLst>
          </p:cNvPr>
          <p:cNvSpPr txBox="1"/>
          <p:nvPr/>
        </p:nvSpPr>
        <p:spPr>
          <a:xfrm>
            <a:off x="4302411" y="2767280"/>
            <a:ext cx="36054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0" dirty="0">
                <a:latin typeface="Fira Sans Medium" panose="020B0603050000020004" pitchFamily="34" charset="0"/>
              </a:rPr>
              <a:t>thanks!</a:t>
            </a:r>
            <a:endParaRPr lang="en-IN" sz="6600" dirty="0">
              <a:latin typeface="Fira Sans Medium" panose="020B0603050000020004" pitchFamily="34" charset="0"/>
            </a:endParaRPr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30CDF02D-CAE1-425F-B0D5-8BB3AD1C0C50}"/>
              </a:ext>
            </a:extLst>
          </p:cNvPr>
          <p:cNvSpPr/>
          <p:nvPr/>
        </p:nvSpPr>
        <p:spPr>
          <a:xfrm>
            <a:off x="10747201" y="4961641"/>
            <a:ext cx="1444799" cy="1343613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77F821-6945-4FB5-9887-69FB75DABC89}"/>
              </a:ext>
            </a:extLst>
          </p:cNvPr>
          <p:cNvGrpSpPr/>
          <p:nvPr/>
        </p:nvGrpSpPr>
        <p:grpSpPr>
          <a:xfrm>
            <a:off x="-3681143" y="-2297674"/>
            <a:ext cx="7362285" cy="7105531"/>
            <a:chOff x="-2861483" y="-2254131"/>
            <a:chExt cx="7362285" cy="7105531"/>
          </a:xfrm>
        </p:grpSpPr>
        <p:sp>
          <p:nvSpPr>
            <p:cNvPr id="6" name="Graphic 4">
              <a:extLst>
                <a:ext uri="{FF2B5EF4-FFF2-40B4-BE49-F238E27FC236}">
                  <a16:creationId xmlns:a16="http://schemas.microsoft.com/office/drawing/2014/main" id="{834BA1D4-0C72-474A-83FF-2D1B207A407E}"/>
                </a:ext>
              </a:extLst>
            </p:cNvPr>
            <p:cNvSpPr/>
            <p:nvPr/>
          </p:nvSpPr>
          <p:spPr>
            <a:xfrm rot="2476041">
              <a:off x="-634236" y="-2254131"/>
              <a:ext cx="4024137" cy="7105531"/>
            </a:xfrm>
            <a:custGeom>
              <a:avLst/>
              <a:gdLst>
                <a:gd name="connsiteX0" fmla="*/ 1112933 w 1137091"/>
                <a:gd name="connsiteY0" fmla="*/ 148024 h 1501074"/>
                <a:gd name="connsiteX1" fmla="*/ 1084358 w 1137091"/>
                <a:gd name="connsiteY1" fmla="*/ 625227 h 1501074"/>
                <a:gd name="connsiteX2" fmla="*/ 1081500 w 1137091"/>
                <a:gd name="connsiteY2" fmla="*/ 1030039 h 1501074"/>
                <a:gd name="connsiteX3" fmla="*/ 897668 w 1137091"/>
                <a:gd name="connsiteY3" fmla="*/ 1439615 h 1501074"/>
                <a:gd name="connsiteX4" fmla="*/ 429038 w 1137091"/>
                <a:gd name="connsiteY4" fmla="*/ 1446282 h 1501074"/>
                <a:gd name="connsiteX5" fmla="*/ 74708 w 1137091"/>
                <a:gd name="connsiteY5" fmla="*/ 1096715 h 1501074"/>
                <a:gd name="connsiteX6" fmla="*/ 7080 w 1137091"/>
                <a:gd name="connsiteY6" fmla="*/ 609035 h 1501074"/>
                <a:gd name="connsiteX7" fmla="*/ 194723 w 1137091"/>
                <a:gd name="connsiteY7" fmla="*/ 152787 h 1501074"/>
                <a:gd name="connsiteX8" fmla="*/ 679545 w 1137091"/>
                <a:gd name="connsiteY8" fmla="*/ 387 h 1501074"/>
                <a:gd name="connsiteX9" fmla="*/ 1112933 w 1137091"/>
                <a:gd name="connsiteY9" fmla="*/ 148024 h 150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091" h="1501074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Graphic 4">
              <a:extLst>
                <a:ext uri="{FF2B5EF4-FFF2-40B4-BE49-F238E27FC236}">
                  <a16:creationId xmlns:a16="http://schemas.microsoft.com/office/drawing/2014/main" id="{8C23666D-AA0B-4055-B6D1-F271DD034ADC}"/>
                </a:ext>
              </a:extLst>
            </p:cNvPr>
            <p:cNvSpPr/>
            <p:nvPr/>
          </p:nvSpPr>
          <p:spPr>
            <a:xfrm rot="3140551">
              <a:off x="-1320786" y="-2808187"/>
              <a:ext cx="4024137" cy="7105531"/>
            </a:xfrm>
            <a:custGeom>
              <a:avLst/>
              <a:gdLst>
                <a:gd name="connsiteX0" fmla="*/ 1112933 w 1137091"/>
                <a:gd name="connsiteY0" fmla="*/ 148024 h 1501074"/>
                <a:gd name="connsiteX1" fmla="*/ 1084358 w 1137091"/>
                <a:gd name="connsiteY1" fmla="*/ 625227 h 1501074"/>
                <a:gd name="connsiteX2" fmla="*/ 1081500 w 1137091"/>
                <a:gd name="connsiteY2" fmla="*/ 1030039 h 1501074"/>
                <a:gd name="connsiteX3" fmla="*/ 897668 w 1137091"/>
                <a:gd name="connsiteY3" fmla="*/ 1439615 h 1501074"/>
                <a:gd name="connsiteX4" fmla="*/ 429038 w 1137091"/>
                <a:gd name="connsiteY4" fmla="*/ 1446282 h 1501074"/>
                <a:gd name="connsiteX5" fmla="*/ 74708 w 1137091"/>
                <a:gd name="connsiteY5" fmla="*/ 1096715 h 1501074"/>
                <a:gd name="connsiteX6" fmla="*/ 7080 w 1137091"/>
                <a:gd name="connsiteY6" fmla="*/ 609035 h 1501074"/>
                <a:gd name="connsiteX7" fmla="*/ 194723 w 1137091"/>
                <a:gd name="connsiteY7" fmla="*/ 152787 h 1501074"/>
                <a:gd name="connsiteX8" fmla="*/ 679545 w 1137091"/>
                <a:gd name="connsiteY8" fmla="*/ 387 h 1501074"/>
                <a:gd name="connsiteX9" fmla="*/ 1112933 w 1137091"/>
                <a:gd name="connsiteY9" fmla="*/ 148024 h 150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091" h="1501074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5" name="Graphic 11">
              <a:extLst>
                <a:ext uri="{FF2B5EF4-FFF2-40B4-BE49-F238E27FC236}">
                  <a16:creationId xmlns:a16="http://schemas.microsoft.com/office/drawing/2014/main" id="{22B03510-4CF1-46CA-BE80-1E37CD0837F6}"/>
                </a:ext>
              </a:extLst>
            </p:cNvPr>
            <p:cNvSpPr/>
            <p:nvPr/>
          </p:nvSpPr>
          <p:spPr>
            <a:xfrm rot="8901965">
              <a:off x="3130551" y="555042"/>
              <a:ext cx="1370251" cy="1274286"/>
            </a:xfrm>
            <a:custGeom>
              <a:avLst/>
              <a:gdLst>
                <a:gd name="connsiteX0" fmla="*/ 1051454 w 1444799"/>
                <a:gd name="connsiteY0" fmla="*/ 206792 h 1343613"/>
                <a:gd name="connsiteX1" fmla="*/ 1253384 w 1444799"/>
                <a:gd name="connsiteY1" fmla="*/ 532548 h 1343613"/>
                <a:gd name="connsiteX2" fmla="*/ 1443884 w 1444799"/>
                <a:gd name="connsiteY2" fmla="*/ 904023 h 1343613"/>
                <a:gd name="connsiteX3" fmla="*/ 1145752 w 1444799"/>
                <a:gd name="connsiteY3" fmla="*/ 1165960 h 1343613"/>
                <a:gd name="connsiteX4" fmla="*/ 728556 w 1444799"/>
                <a:gd name="connsiteY4" fmla="*/ 1305025 h 1343613"/>
                <a:gd name="connsiteX5" fmla="*/ 267546 w 1444799"/>
                <a:gd name="connsiteY5" fmla="*/ 1305025 h 1343613"/>
                <a:gd name="connsiteX6" fmla="*/ 21801 w 1444799"/>
                <a:gd name="connsiteY6" fmla="*/ 912595 h 1343613"/>
                <a:gd name="connsiteX7" fmla="*/ 64664 w 1444799"/>
                <a:gd name="connsiteY7" fmla="*/ 463968 h 1343613"/>
                <a:gd name="connsiteX8" fmla="*/ 405659 w 1444799"/>
                <a:gd name="connsiteY8" fmla="*/ 187742 h 1343613"/>
                <a:gd name="connsiteX9" fmla="*/ 753321 w 1444799"/>
                <a:gd name="connsiteY9" fmla="*/ 100 h 1343613"/>
                <a:gd name="connsiteX10" fmla="*/ 1051454 w 1444799"/>
                <a:gd name="connsiteY10" fmla="*/ 206792 h 134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44799" h="1343613">
                  <a:moveTo>
                    <a:pt x="1051454" y="206792"/>
                  </a:moveTo>
                  <a:cubicBezTo>
                    <a:pt x="1128607" y="309663"/>
                    <a:pt x="1171469" y="411580"/>
                    <a:pt x="1253384" y="532548"/>
                  </a:cubicBezTo>
                  <a:cubicBezTo>
                    <a:pt x="1336252" y="652563"/>
                    <a:pt x="1457219" y="791628"/>
                    <a:pt x="1443884" y="904023"/>
                  </a:cubicBezTo>
                  <a:cubicBezTo>
                    <a:pt x="1430549" y="1016418"/>
                    <a:pt x="1282912" y="1102143"/>
                    <a:pt x="1145752" y="1165960"/>
                  </a:cubicBezTo>
                  <a:cubicBezTo>
                    <a:pt x="1008591" y="1228825"/>
                    <a:pt x="880956" y="1269783"/>
                    <a:pt x="728556" y="1305025"/>
                  </a:cubicBezTo>
                  <a:cubicBezTo>
                    <a:pt x="575204" y="1340268"/>
                    <a:pt x="397086" y="1370748"/>
                    <a:pt x="267546" y="1305025"/>
                  </a:cubicBezTo>
                  <a:cubicBezTo>
                    <a:pt x="138959" y="1239303"/>
                    <a:pt x="58949" y="1076425"/>
                    <a:pt x="21801" y="912595"/>
                  </a:cubicBezTo>
                  <a:cubicBezTo>
                    <a:pt x="-14394" y="748765"/>
                    <a:pt x="-8679" y="583030"/>
                    <a:pt x="64664" y="463968"/>
                  </a:cubicBezTo>
                  <a:cubicBezTo>
                    <a:pt x="138006" y="345858"/>
                    <a:pt x="278976" y="274420"/>
                    <a:pt x="405659" y="187742"/>
                  </a:cubicBezTo>
                  <a:cubicBezTo>
                    <a:pt x="531389" y="101065"/>
                    <a:pt x="642831" y="100"/>
                    <a:pt x="753321" y="100"/>
                  </a:cubicBezTo>
                  <a:cubicBezTo>
                    <a:pt x="864764" y="1052"/>
                    <a:pt x="974301" y="104875"/>
                    <a:pt x="1051454" y="206792"/>
                  </a:cubicBezTo>
                  <a:close/>
                </a:path>
              </a:pathLst>
            </a:custGeom>
            <a:solidFill>
              <a:srgbClr val="FF99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22F9731-B0FC-4706-9E67-202F61A914FF}"/>
              </a:ext>
            </a:extLst>
          </p:cNvPr>
          <p:cNvSpPr/>
          <p:nvPr/>
        </p:nvSpPr>
        <p:spPr>
          <a:xfrm>
            <a:off x="4636606" y="3867382"/>
            <a:ext cx="1971876" cy="368374"/>
          </a:xfrm>
          <a:custGeom>
            <a:avLst/>
            <a:gdLst>
              <a:gd name="connsiteX0" fmla="*/ 4569032 w 4609853"/>
              <a:gd name="connsiteY0" fmla="*/ 413392 h 1039050"/>
              <a:gd name="connsiteX1" fmla="*/ 2522490 w 4609853"/>
              <a:gd name="connsiteY1" fmla="*/ 1039051 h 1039050"/>
              <a:gd name="connsiteX2" fmla="*/ 22339 w 4609853"/>
              <a:gd name="connsiteY2" fmla="*/ 85017 h 1039050"/>
              <a:gd name="connsiteX3" fmla="*/ 79146 w 4609853"/>
              <a:gd name="connsiteY3" fmla="*/ 10798 h 1039050"/>
              <a:gd name="connsiteX4" fmla="*/ 2580535 w 4609853"/>
              <a:gd name="connsiteY4" fmla="*/ 674186 h 1039050"/>
              <a:gd name="connsiteX5" fmla="*/ 4488602 w 4609853"/>
              <a:gd name="connsiteY5" fmla="*/ 284033 h 1039050"/>
              <a:gd name="connsiteX6" fmla="*/ 4569032 w 4609853"/>
              <a:gd name="connsiteY6" fmla="*/ 413392 h 103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9853" h="1039050">
                <a:moveTo>
                  <a:pt x="4569032" y="413392"/>
                </a:moveTo>
                <a:cubicBezTo>
                  <a:pt x="4015524" y="821376"/>
                  <a:pt x="3213233" y="1039051"/>
                  <a:pt x="2522490" y="1039051"/>
                </a:cubicBezTo>
                <a:cubicBezTo>
                  <a:pt x="1553940" y="1039051"/>
                  <a:pt x="682003" y="680825"/>
                  <a:pt x="22339" y="85017"/>
                </a:cubicBezTo>
                <a:cubicBezTo>
                  <a:pt x="-29486" y="38164"/>
                  <a:pt x="16958" y="-25682"/>
                  <a:pt x="79146" y="10798"/>
                </a:cubicBezTo>
                <a:cubicBezTo>
                  <a:pt x="791045" y="425003"/>
                  <a:pt x="1671279" y="674186"/>
                  <a:pt x="2580535" y="674186"/>
                </a:cubicBezTo>
                <a:cubicBezTo>
                  <a:pt x="3193755" y="674186"/>
                  <a:pt x="3868334" y="547313"/>
                  <a:pt x="4488602" y="284033"/>
                </a:cubicBezTo>
                <a:cubicBezTo>
                  <a:pt x="4582300" y="244228"/>
                  <a:pt x="4660662" y="345393"/>
                  <a:pt x="4569032" y="413392"/>
                </a:cubicBezTo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3DC809-06A1-40CF-AA17-0E8089FE7962}"/>
              </a:ext>
            </a:extLst>
          </p:cNvPr>
          <p:cNvSpPr/>
          <p:nvPr/>
        </p:nvSpPr>
        <p:spPr>
          <a:xfrm>
            <a:off x="6393463" y="3832087"/>
            <a:ext cx="405318" cy="330866"/>
          </a:xfrm>
          <a:custGeom>
            <a:avLst/>
            <a:gdLst>
              <a:gd name="connsiteX0" fmla="*/ 691963 w 947553"/>
              <a:gd name="connsiteY0" fmla="*/ 249669 h 933254"/>
              <a:gd name="connsiteX1" fmla="*/ 45996 w 947553"/>
              <a:gd name="connsiteY1" fmla="*/ 228114 h 933254"/>
              <a:gd name="connsiteX2" fmla="*/ 32309 w 947553"/>
              <a:gd name="connsiteY2" fmla="*/ 153476 h 933254"/>
              <a:gd name="connsiteX3" fmla="*/ 928297 w 947553"/>
              <a:gd name="connsiteY3" fmla="*/ 69723 h 933254"/>
              <a:gd name="connsiteX4" fmla="*/ 615258 w 947553"/>
              <a:gd name="connsiteY4" fmla="*/ 913476 h 933254"/>
              <a:gd name="connsiteX5" fmla="*/ 546430 w 947553"/>
              <a:gd name="connsiteY5" fmla="*/ 880719 h 933254"/>
              <a:gd name="connsiteX6" fmla="*/ 691963 w 947553"/>
              <a:gd name="connsiteY6" fmla="*/ 249669 h 933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53" h="933254">
                <a:moveTo>
                  <a:pt x="691963" y="249669"/>
                </a:moveTo>
                <a:cubicBezTo>
                  <a:pt x="621477" y="159286"/>
                  <a:pt x="224275" y="206968"/>
                  <a:pt x="45996" y="228114"/>
                </a:cubicBezTo>
                <a:cubicBezTo>
                  <a:pt x="-8325" y="234743"/>
                  <a:pt x="-16612" y="187480"/>
                  <a:pt x="32309" y="153476"/>
                </a:cubicBezTo>
                <a:cubicBezTo>
                  <a:pt x="348663" y="-69171"/>
                  <a:pt x="867765" y="-4906"/>
                  <a:pt x="928297" y="69723"/>
                </a:cubicBezTo>
                <a:cubicBezTo>
                  <a:pt x="988828" y="144770"/>
                  <a:pt x="912543" y="665111"/>
                  <a:pt x="615258" y="913476"/>
                </a:cubicBezTo>
                <a:cubicBezTo>
                  <a:pt x="569652" y="951614"/>
                  <a:pt x="526123" y="931297"/>
                  <a:pt x="546430" y="880719"/>
                </a:cubicBezTo>
                <a:cubicBezTo>
                  <a:pt x="613191" y="714041"/>
                  <a:pt x="762866" y="340471"/>
                  <a:pt x="691963" y="249669"/>
                </a:cubicBezTo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69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1085</TotalTime>
  <Words>763</Words>
  <Application>Microsoft Office PowerPoint</Application>
  <PresentationFormat>Widescreen</PresentationFormat>
  <Paragraphs>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Fira Sans Medium</vt:lpstr>
      <vt:lpstr>Arial</vt:lpstr>
      <vt:lpstr>Calibri</vt:lpstr>
      <vt:lpstr>Times New Roman</vt:lpstr>
      <vt:lpstr>Calibri Light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Sapling Creations</dc:creator>
  <cp:lastModifiedBy>Vivek Kumar Yadav</cp:lastModifiedBy>
  <cp:revision>200</cp:revision>
  <dcterms:created xsi:type="dcterms:W3CDTF">2021-11-17T09:33:18Z</dcterms:created>
  <dcterms:modified xsi:type="dcterms:W3CDTF">2026-01-31T17:30:57Z</dcterms:modified>
</cp:coreProperties>
</file>